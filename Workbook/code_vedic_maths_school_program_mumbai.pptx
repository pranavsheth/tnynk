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5b38f393d04723" /><Relationship Type="http://schemas.openxmlformats.org/officeDocument/2006/relationships/extended-properties" Target="/docProps/app.xml" Id="Rb7b782c44bb74373" /><Relationship Type="http://schemas.openxmlformats.org/officeDocument/2006/relationships/officeDocument" Target="/ppt/presentation.xml" Id="Rb62c0f2dc5f648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855522f2454bcc"/>
  </p:sldMasterIdLst>
  <p:notesMasterIdLst>
    <p:notesMasterId xmlns:r="http://schemas.openxmlformats.org/officeDocument/2006/relationships" r:id="R52607f215947434b"/>
  </p:notesMasterIdLst>
  <p:sldIdLst>
    <p:sldId xmlns:r="http://schemas.openxmlformats.org/officeDocument/2006/relationships" id="256" r:id="R55d48b1bd65247b4"/>
    <p:sldId xmlns:r="http://schemas.openxmlformats.org/officeDocument/2006/relationships" id="257" r:id="R1563ca3fb29a45fe"/>
    <p:sldId xmlns:r="http://schemas.openxmlformats.org/officeDocument/2006/relationships" id="258" r:id="Redc663b2d8ae49c3"/>
    <p:sldId xmlns:r="http://schemas.openxmlformats.org/officeDocument/2006/relationships" id="259" r:id="R06a248fdcdff4c53"/>
    <p:sldId xmlns:r="http://schemas.openxmlformats.org/officeDocument/2006/relationships" id="260" r:id="R46101b314fff4d46"/>
    <p:sldId xmlns:r="http://schemas.openxmlformats.org/officeDocument/2006/relationships" id="261" r:id="R3d25e5337df5413f"/>
    <p:sldId xmlns:r="http://schemas.openxmlformats.org/officeDocument/2006/relationships" id="262" r:id="R6b0dee564ddf4a16"/>
    <p:sldId xmlns:r="http://schemas.openxmlformats.org/officeDocument/2006/relationships" id="263" r:id="R4a35380d5b944bab"/>
    <p:sldId xmlns:r="http://schemas.openxmlformats.org/officeDocument/2006/relationships" id="264" r:id="R4da20e9548664ee3"/>
    <p:sldId xmlns:r="http://schemas.openxmlformats.org/officeDocument/2006/relationships" id="265" r:id="R94fbfd3dda8640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55522f2454bcc" /><Relationship Type="http://schemas.openxmlformats.org/officeDocument/2006/relationships/theme" Target="/ppt/theme/theme1.xml" Id="R88729b8e9a384042" /><Relationship Type="http://schemas.openxmlformats.org/officeDocument/2006/relationships/notesMaster" Target="/ppt/notesMasters/notesMaster1.xml" Id="R52607f215947434b" /><Relationship Type="http://schemas.openxmlformats.org/officeDocument/2006/relationships/presProps" Target="/ppt/presProps.xml" Id="Rb19857485fe744c9" /><Relationship Type="http://schemas.openxmlformats.org/officeDocument/2006/relationships/viewProps" Target="/ppt/viewProps.xml" Id="R700b61448d5c4052" /><Relationship Type="http://schemas.openxmlformats.org/officeDocument/2006/relationships/tableStyles" Target="/ppt/tableStyles.xml" Id="Rd43cac773d434185" /><Relationship Type="http://schemas.openxmlformats.org/officeDocument/2006/relationships/slide" Target="/ppt/slides/slide1.xml" Id="R55d48b1bd65247b4" /><Relationship Type="http://schemas.openxmlformats.org/officeDocument/2006/relationships/slide" Target="/ppt/slides/slide2.xml" Id="R1563ca3fb29a45fe" /><Relationship Type="http://schemas.openxmlformats.org/officeDocument/2006/relationships/slide" Target="/ppt/slides/slide3.xml" Id="Redc663b2d8ae49c3" /><Relationship Type="http://schemas.openxmlformats.org/officeDocument/2006/relationships/slide" Target="/ppt/slides/slide4.xml" Id="R06a248fdcdff4c53" /><Relationship Type="http://schemas.openxmlformats.org/officeDocument/2006/relationships/slide" Target="/ppt/slides/slide5.xml" Id="R46101b314fff4d46" /><Relationship Type="http://schemas.openxmlformats.org/officeDocument/2006/relationships/slide" Target="/ppt/slides/slide6.xml" Id="R3d25e5337df5413f" /><Relationship Type="http://schemas.openxmlformats.org/officeDocument/2006/relationships/slide" Target="/ppt/slides/slide7.xml" Id="R6b0dee564ddf4a16" /><Relationship Type="http://schemas.openxmlformats.org/officeDocument/2006/relationships/slide" Target="/ppt/slides/slide8.xml" Id="R4a35380d5b944bab" /><Relationship Type="http://schemas.openxmlformats.org/officeDocument/2006/relationships/slide" Target="/ppt/slides/slide9.xml" Id="R4da20e9548664ee3" /><Relationship Type="http://schemas.openxmlformats.org/officeDocument/2006/relationships/slide" Target="/ppt/slides/slide10.xml" Id="R94fbfd3dda8640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07f77c111a24d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df115e78fb4a51" /><Relationship Type="http://schemas.openxmlformats.org/officeDocument/2006/relationships/notesMaster" Target="/ppt/notesMasters/notesMaster1.xml" Id="R7f0ebc249d00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58cec0fd07407e" /><Relationship Type="http://schemas.openxmlformats.org/officeDocument/2006/relationships/notesMaster" Target="/ppt/notesMasters/notesMaster1.xml" Id="Rd921c3f7942746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44165d2de4a79" /><Relationship Type="http://schemas.openxmlformats.org/officeDocument/2006/relationships/notesMaster" Target="/ppt/notesMasters/notesMaster1.xml" Id="R9f9356f355b9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a2d13a378346d8" /><Relationship Type="http://schemas.openxmlformats.org/officeDocument/2006/relationships/notesMaster" Target="/ppt/notesMasters/notesMaster1.xml" Id="R6ddf78daa4ac4a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0d4315161d4b39" /><Relationship Type="http://schemas.openxmlformats.org/officeDocument/2006/relationships/notesMaster" Target="/ppt/notesMasters/notesMaster1.xml" Id="Ref1853dd41bc49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14bb486a94b15" /><Relationship Type="http://schemas.openxmlformats.org/officeDocument/2006/relationships/notesMaster" Target="/ppt/notesMasters/notesMaster1.xml" Id="R10d73e3a510d4b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a869500694ae5" /><Relationship Type="http://schemas.openxmlformats.org/officeDocument/2006/relationships/notesMaster" Target="/ppt/notesMasters/notesMaster1.xml" Id="Rd657dd4cd4a440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ca5c11cfd14f77" /><Relationship Type="http://schemas.openxmlformats.org/officeDocument/2006/relationships/notesMaster" Target="/ppt/notesMasters/notesMaster1.xml" Id="Ra9bc2cd50a3a46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71e86971fe496e" /><Relationship Type="http://schemas.openxmlformats.org/officeDocument/2006/relationships/notesMaster" Target="/ppt/notesMasters/notesMaster1.xml" Id="Reb72c4770b9446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4e494a09fc4280" /><Relationship Type="http://schemas.openxmlformats.org/officeDocument/2006/relationships/notesMaster" Target="/ppt/notesMasters/notesMaster1.xml" Id="R62dae07317b74e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4d059bbe644d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7EA4324-8A42-4104-A5CC-6DF83050458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41D7EE4-9263-4BB9-8F4F-FF898FAA0416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6EE81E2-98EF-49BF-A41C-5474F1FB9A81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59E221-6E94-4006-81DF-739FB9EEA8B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46c88e761a44b7" /><Relationship Type="http://schemas.openxmlformats.org/officeDocument/2006/relationships/slideLayout" Target="/ppt/slideLayouts/slideLayout2.xml" Id="R175a77360952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E18950-B0A5-4003-B8CF-C425772AF84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5a77360952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4a49bdbad43c0" /><Relationship Type="http://schemas.openxmlformats.org/officeDocument/2006/relationships/notesSlide" Target="/ppt/notesSlides/notesSlide1.xml" Id="R75d0e0b04bef4a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536fa532144d8" /><Relationship Type="http://schemas.openxmlformats.org/officeDocument/2006/relationships/notesSlide" Target="/ppt/notesSlides/notesSlide2.xml" Id="Rcc2073ab354b4f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d412abbef14ab8" /><Relationship Type="http://schemas.openxmlformats.org/officeDocument/2006/relationships/notesSlide" Target="/ppt/notesSlides/notesSlide3.xml" Id="Raa038b9aa78d4b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c345008ec24acf" /><Relationship Type="http://schemas.openxmlformats.org/officeDocument/2006/relationships/notesSlide" Target="/ppt/notesSlides/notesSlide4.xml" Id="Raa23ff615dd34d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b9510a8a824d0a" /><Relationship Type="http://schemas.openxmlformats.org/officeDocument/2006/relationships/notesSlide" Target="/ppt/notesSlides/notesSlide5.xml" Id="Re972e5b3d43346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d55719b6c14b35" /><Relationship Type="http://schemas.openxmlformats.org/officeDocument/2006/relationships/notesSlide" Target="/ppt/notesSlides/notesSlide6.xml" Id="Ra2d2af53f56940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16c937eaf142ff" /><Relationship Type="http://schemas.openxmlformats.org/officeDocument/2006/relationships/notesSlide" Target="/ppt/notesSlides/notesSlide7.xml" Id="R0faa46ecb62d48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4e99bb52264a0b" /><Relationship Type="http://schemas.openxmlformats.org/officeDocument/2006/relationships/notesSlide" Target="/ppt/notesSlides/notesSlide8.xml" Id="R71381c789d304e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3db77f9ba54309" /><Relationship Type="http://schemas.openxmlformats.org/officeDocument/2006/relationships/notesSlide" Target="/ppt/notesSlides/notesSlide9.xml" Id="R0fd6d614479947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3b6de2db0d4947" /><Relationship Type="http://schemas.openxmlformats.org/officeDocument/2006/relationships/notesSlide" Target="/ppt/notesSlides/notesSlide10.xml" Id="R6ea6989d7230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CB3A0-C03C-4849-8C6B-6E50E8EC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0">
            <a:solidFill>
              <a:srgbClr val="EAF1F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2B3C-0263-4D5C-A7FE-F4CCF9CA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BFA"/>
          </a:solidFill>
          <a:ln xmlns:a="http://schemas.openxmlformats.org/drawingml/2006/main" w="0"/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E5173-CBBC-44B7-B4B1-F8819214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4790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2EA"/>
          </a:solidFill>
          <a:ln xmlns:a="http://schemas.openxmlformats.org/drawingml/2006/main" w="0"/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09D69-2D45-4760-98AE-94022B46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D9"/>
          </a:solidFill>
          <a:ln xmlns:a="http://schemas.openxmlformats.org/drawingml/2006/main" w="0"/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9A1CD-9BFA-435C-B1AB-B364EA5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Code + Vedic Maths</a:t>
            </a:r>
          </a:p>
          <a:p xmlns:a="http://schemas.openxmlformats.org/drawingml/2006/main">
            <a:pPr algn="l">
              <a:defRPr sz="2100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After-School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8C1CA-2D5C-46E9-90D3-7DDC40A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381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F7F9FC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A weekend enrichment program for Grades 4–7 that builds logical thinking,</a:t>
            </a:r>
          </a:p>
          <a:p xmlns:a="http://schemas.openxmlformats.org/drawingml/2006/main">
            <a:pPr algn="l">
              <a:defRPr sz="1425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mental math confidence, and practical coding skills.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8D727-2A99-46E2-BA6A-1EB82913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Grade 4–5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9B97F-0A6D-4CA0-A64B-2C7862E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29000"/>
            <a:ext cx="1381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Scratch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BAED4-4013-418E-922E-3B417CF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29000"/>
            <a:ext cx="1666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Grade 6–7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5FFB3-47A8-46D0-944A-76EE3DD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1571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HTML • CSS •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C4521-4798-446D-8D56-E9C13D5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666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18E2BB-FC5F-4821-A005-6D081BF5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75366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What the school 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6CFF6-60C4-425D-BF9A-7EBD784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67250"/>
            <a:ext cx="609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ready-to-run weekend program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Teacher-friendly material and answer keys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Visible student projects and a final showcase</a:t>
            </a:r>
          </a:p>
          <a:p xmlns:a="http://schemas.openxmlformats.org/drawingml/2006/main">
            <a:pPr algn="l">
              <a:defRPr sz="1200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modern STEM brand for the school</a:t>
            </a:r>
          </a:p>
        </p:txBody>
      </p:sp>
    </p:spTree>
    <p:extLst>
      <p:ext uri="{BB962C8B-B14F-4D97-AF65-F5344CB8AC3E}">
        <p14:creationId xmlns:p14="http://schemas.microsoft.com/office/powerpoint/2010/main" val="1619197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8109B-6C88-414E-B1B4-61B3BA6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04A60-8501-4379-9226-647AF9E2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Why coding and Vedic Maths together?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6A879-EEED-47DD-BD0F-F4991C1B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The goal is stronger thinking, better pattern recognition, and more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94DA7-A70E-4FCD-94A5-1AA1ED06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896C0-7CD7-45FB-89B0-8EC013F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FE592-9099-4868-AC06-FCD46A5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3CE83-44C1-4CAD-87DB-AED99A06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Coding skills we want to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E6ECD-6623-4D20-98B2-35C66FA3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9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Sequencing and step-by-step logic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Loops, conditionals, and variables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Debugging and checking for errors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Project creation and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43E3D-B6AA-4A96-8C8E-55634FA7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EE508-E6F0-453A-B85D-6FD24721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04CDB-8EDD-4091-B20F-EE0BB842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Vedic Maths habits that support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9078F-5C05-4D28-8725-111EF10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4991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Quick mental estimation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Pattern spotting and shortcuts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Working with numbers confidently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Breaking big problems into small steps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B3B24-9B4B-47EE-BB06-C574D791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79979-62D5-47B8-8E2A-FDB6ADE9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7BDB6-1B32-4DB9-9A3D-702BD2E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Why schools like this combination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6A657B-98CF-448C-BCAA-C20652C3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1104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Children who are less afraid of math are usually more willing to code, test, and try again.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Mental math develops number sense, which helps with coordinates, scoring, timing, and calculations inside programs.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Coding gives an immediate visual result, so children can see how logic and math turn into something useful and fun.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The program feels modern, academic, and hands-on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1592980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94DAB-0450-462D-B359-DD15E6CF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0D3E0-1FD7-47E9-9755-63B211B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Program structure and delivery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C0378-CEC0-4644-8944-EA9B5B9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Designed for school computers teachers to run on weekends, with material and support provided by 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9568-99C9-47D8-BCF5-E256B07F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5A7FB-4DD0-4C2B-8625-3A83DBBB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600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7DD18-F07A-49E9-989E-FA617C0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E4B27-10E4-4BBF-9FCF-5D3A521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Program format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E0F66-61E0-45D9-83F1-C66BE381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One session per week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Weekend or after-school slot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Ideal session length: 60–75 minutes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Core program: 12 weeks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Extended option: 16 weeks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540B2-DB13-49A2-9887-1C8AD61A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143000"/>
            <a:ext cx="3600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26C87-89EB-42F1-BDBB-35CB58E8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E3779-B9D3-466A-8F01-0699D936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How a session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2512E-A3CF-4165-BC7E-EF2CD8C4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764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10 min: warm-up and mental math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15 min: concept introduction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25 min: guided coding activity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10 min: student challenge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5 min: recap and exit ticket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14F7F-4493-4846-BBFD-AFCB728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600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52C3A-6E48-4D15-9602-F58C7C02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3EE63-5D32-42D0-AAAB-0256ABA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School support needed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71432-FE14-4EA3-A841-10C90369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3257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Computer lab or shared devices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School teacher as facilitator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Projector for live demo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Scratch can also run offline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Simple attendance and progress tracker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FB4DBF-22B8-4F69-9807-DAA5B42F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B73A8-5E9B-4C0D-A576-11B7612E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301CC-24FB-435D-A028-A0540365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Teacher kit we provide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C8EBA-335B-481A-96A7-CFEBA0F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104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Week-by-week lesson plan with teaching script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Slide deck and demo instructions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Scratch project files, HTML starter files, worksheets, and answer keys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Assessment rubric, certificate template, and parent showcase outline</a:t>
            </a:r>
          </a:p>
        </p:txBody>
      </p:sp>
    </p:spTree>
    <p:extLst>
      <p:ext uri="{BB962C8B-B14F-4D97-AF65-F5344CB8AC3E}">
        <p14:creationId xmlns:p14="http://schemas.microsoft.com/office/powerpoint/2010/main" val="1087058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C78D9-B995-4CB9-804D-9834B83C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18602-4EA7-4A9B-8463-47E4FB2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Learning outcomes by grade band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0942F-F14C-4128-8FDC-2A52F112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Same program family, different complexity: Scratch first, then web 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F4A3C-A7CE-4C07-AB74-DC35C270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8B447-4A07-46FB-B359-5E02CBA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58808-2467-47CF-B29F-3AACFF71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BDE74-D5F4-4C44-B08C-B102556E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Grades 4–5: Scratch + Vedic Maths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F3E45-A21E-41C9-9DE4-EFCA493C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91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Understand sequences, events, loops, and conditionals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Use Scratch to create games, animations, and quizzes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Practice number patterns, estimation, and mental shortcuts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Develop confidence in math and logic through 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A6C0A-8DF0-4AA4-BF9B-9D24D800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AE65E-EB55-4956-A70A-59F92DC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E9CE4-8477-4628-BFA3-CD179949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Grades 6–7: HTML, CSS, JavaScript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F982A-7EFF-4489-A628-42D41AA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4991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Build simple web pages and interactive buttons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Use CSS to style layouts and create a polished design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Use JavaScript for logic, scoring, and small interactive tools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Connect arithmetic, variables, and functions to coding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3CEA3-B6BB-4156-91C4-C61A10D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1B419-3FB7-491C-9800-1509D09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09D6A-E09E-459D-ABF8-CFE82DF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Across both tracks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91E0C-7B38-4800-98E9-217C755C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104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Logical thinking, attention to detail, and debugging habits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Project-based learning instead of only theory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Teamwork, communication, and presenting their work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portfolio of student work that the school can show to parents</a:t>
            </a:r>
          </a:p>
        </p:txBody>
      </p:sp>
    </p:spTree>
    <p:extLst>
      <p:ext uri="{BB962C8B-B14F-4D97-AF65-F5344CB8AC3E}">
        <p14:creationId xmlns:p14="http://schemas.microsoft.com/office/powerpoint/2010/main" val="195485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8EAB5-549B-4925-8E15-03D41FFA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F9925-6EAB-4E01-8F1E-CD0CD817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Grades 4–5: 12-week core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0F851-968E-4F09-90DC-3DC3A017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Scratch is the programming language for this age group. Vedic Maths is woven into the warm-up and the challenge.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25E13-0B18-46D1-B4DE-06CDE8F0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A2070-1F23-49DF-9FD2-4CD1E54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626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C3B3B-1DAF-4657-A857-0A21785B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6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A7C63-8CF3-4AA5-B9DD-75D48739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Weeks 1–6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9EFD5-1E2D-4F88-B706-46E776B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219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W1: Scratch basics + number patterns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W2: Motion + mental addition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W3: Events + quick add/sub games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W4: Variables + score counter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W5: Loops + skip counting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W6: Conditionals + compare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B41C1-7F52-4191-BD04-30340348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43000"/>
            <a:ext cx="55626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C38A9-E1D0-4F8B-AC73-82898F8E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43000"/>
            <a:ext cx="5562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ED2D5-9C8F-4B6F-BF6F-FEEF1E72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44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Weeks 7–12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ADE747-C0CD-42B3-91A9-B5A1F733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5219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W7: Coordinates + grid reading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W8: Broadcasts + task breakdown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W9: Random numbers + estimation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W10: Debugging + reverse checking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W11: Build a quiz, maze, or game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W12: Showcase + reflection</a:t>
            </a:r>
          </a:p>
        </p:txBody>
      </p:sp>
    </p:spTree>
    <p:extLst>
      <p:ext uri="{BB962C8B-B14F-4D97-AF65-F5344CB8AC3E}">
        <p14:creationId xmlns:p14="http://schemas.microsoft.com/office/powerpoint/2010/main" val="1677127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6F480-C441-48F2-9D83-3ED44DE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A993F-796D-454C-8C20-6BA89370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Scratch project ideas for Grades 4–5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BF4D0-C929-42C7-A135-EE2B322D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Each project is simple, visual, and strongly connected to number sense.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024A-4768-4CBC-B99F-8AE3004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1EE9B-111D-4170-BC3E-FCCB8169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2705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E7101-7FF5-4553-BFAF-73C5BA88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A483E-710D-4EAA-A499-EF870D23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1. Math Quiz 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201E2-A19A-484E-B4A1-5B4AD58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36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Addition or multiplication questions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Score variable and right/wrong checks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Fast mental answering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B27A4-AFDC-43D8-AAAF-768E3489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43000"/>
            <a:ext cx="2705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24933-B029-4383-B0F5-4FEBA3A3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14300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DB015-E5ED-4514-87F2-66F4C5BE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144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2. Loop 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5A56B-442D-4A3B-BEA9-DFEACCB4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76400"/>
            <a:ext cx="236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Repeating patterns with sprites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Use repeat blocks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Skip counting practice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E336F-CB9D-4C59-84BD-2EFE6CB5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43000"/>
            <a:ext cx="2705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28320-B6CF-4CD8-BB12-9A813951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43000"/>
            <a:ext cx="2705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B8BAE-842B-4652-9C8E-2D5F61C8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31445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3. Treasure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E7471-01DA-4279-8214-423CD671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236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Move on a grid using x/y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Find hidden objects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Coordinate reading and 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45D00-068D-4D27-85DA-6E449973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0"/>
            <a:ext cx="2647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AAB6C-38A3-41EF-AEF0-18CB87BD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43000"/>
            <a:ext cx="2647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0AAE88-F224-41D1-A01D-9693C1A3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14450"/>
            <a:ext cx="230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4. Story Animator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09DE1-373C-4974-8C97-1EE6B7C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76400"/>
            <a:ext cx="23050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Character movement and dialogue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Broadcast messages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Sequence a story clearly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4CA6C-AD41-41A6-8C2F-9CF51749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F583EC-3068-4C4A-88F1-AA977F1C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D5E2D-39D6-40E2-AB99-38F09311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How Vedic Maths appears inside the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B8F758-C3CF-4F77-AA38-7A3F1251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110490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Fast answer warm-up before a scoring round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Repeat patterns using loops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Check score changes and debug logic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Estimate how many moves or steps are needed</a:t>
            </a:r>
          </a:p>
        </p:txBody>
      </p:sp>
    </p:spTree>
    <p:extLst>
      <p:ext uri="{BB962C8B-B14F-4D97-AF65-F5344CB8AC3E}">
        <p14:creationId xmlns:p14="http://schemas.microsoft.com/office/powerpoint/2010/main" val="527655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DAB38-6FE8-4B7F-8568-23278361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3C52-DC7A-4834-869B-DB33999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Optional 16-week extended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107B0-BF47-4599-9583-DAAC6A5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For schools that want more practice, more project time, and a stronger showcase output.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C7560-3293-4C9A-8135-F057F353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15A50-E7C7-449B-B2C1-F52B0451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DC48-6C44-4DB1-A81A-6F30537E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8ADAB-0AA5-4EF4-8010-6E6E711E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What the extra 4 weeks can 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79B00-101F-4F10-8520-F3B0590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4991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More time for revision and confidence building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One bigger team project instead of only short activities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Extra challenges for fast learners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final demo day with parents or school leadership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8D045-D2C0-4331-82DB-424DD24A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D4769-462D-49C2-915C-6591A05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143000"/>
            <a:ext cx="5334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A8C1A-11E8-4194-93B3-F70C43B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14450"/>
            <a:ext cx="499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Suggested extension themes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0F59E-3BED-41EB-9B39-758E5D4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76400"/>
            <a:ext cx="49911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Advanced Scratch game with levels and scoring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Math challenge game using timed questions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Animated quiz with sound and feedback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Mini coding competition or inter-house challenge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1F3F6-6913-4F0D-80F9-3EF93B0F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6098A-B5F7-4436-AC01-A0E7893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3DD62-6FC7-4FB8-8C77-BD024774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909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Why the 16-week version may work well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49401-A4DA-4DDD-B3DE-4B74DE91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104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Schools can use it as a stronger co-curricular offering.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Teachers get more repetition and smoother classroom control.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Students have enough time to move from trying to creating.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The final output looks more substantial for parents and admissions branding.</a:t>
            </a:r>
          </a:p>
        </p:txBody>
      </p:sp>
    </p:spTree>
    <p:extLst>
      <p:ext uri="{BB962C8B-B14F-4D97-AF65-F5344CB8AC3E}">
        <p14:creationId xmlns:p14="http://schemas.microsoft.com/office/powerpoint/2010/main" val="783558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90E38-0E2A-456B-8EFB-A0166878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C882D-5756-4050-B857-615065D6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Grades 6–7: HTML, CSS, JavaScript track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29BC-920B-45C3-AD9D-094AF4F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This track is for older students who are ready for real web pages and simple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6646C-49FE-4637-BFDB-FEDE5519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75C64-7648-479E-811A-B9C95ED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2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ABDD7-A77E-43B4-A232-6EA3B088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24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A6075-DBAF-4EFF-A9E8-B5B1676B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518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What students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FB260-E8F0-45A1-9607-F6C3D7E5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181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personal profile webpage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styled quiz or calculator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simple interactive game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mini portfolio page to show their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1E232-21B1-4962-87DD-08652B8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600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115B1-83E3-42B8-9302-794B02E9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600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7F5CC-0F5F-4D03-AAA5-EDF885AA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314450"/>
            <a:ext cx="525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Learning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CB71C-4461-4F8E-BFFE-EC9DA723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5257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HTML: headings, paragraphs, images, buttons, forms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CSS: colors, spacing, box model, layout, responsive feel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JavaScript: variables, functions, events, conditions, loops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Math link: calculation, logic, estimation, and checking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849B2-B34B-4A93-82C6-972B39D1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EB6AF-417D-45B7-969D-5534502C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D18E0-D7F9-47E2-91F8-8626762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How Vedic Maths supports this older 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7C3D7-E63A-4D92-A7DF-3766B32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24300"/>
            <a:ext cx="110490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Helps students do quick checks while building calculators and score systems.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Improves number confidence when they work with percentages, averages, and simple algebra-like ideas.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Supports algorithm thinking: solve the problem in a clean sequence, then refine it.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Builds comfort with mental estimation, which is important for debugging and testing.</a:t>
            </a:r>
          </a:p>
        </p:txBody>
      </p:sp>
    </p:spTree>
    <p:extLst>
      <p:ext uri="{BB962C8B-B14F-4D97-AF65-F5344CB8AC3E}">
        <p14:creationId xmlns:p14="http://schemas.microsoft.com/office/powerpoint/2010/main" val="13723046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B281-AEF7-42F9-AAEB-EF6D0D08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40D78-3E8F-41EC-A791-7BC5414C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Teacher support material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A1A41-DBCB-4067-BCD2-3A753B6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The school computer teacher can run the program with our prepared resources.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F2D5B-CADC-47DC-8E8E-2F40928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4D2B-7857-4424-AA16-3EC65EF9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600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34294-9556-473B-8D76-5764DE11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C0235-8B8F-41D1-AF6B-F0D67E80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For teachers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7745B-20E7-4E1F-B762-B1D40522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Week-wise lesson plan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Simple teaching script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Demo steps and expected answers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Common doubts and troubleshooting notes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0D5C3-9D96-44F6-94E6-D433AD69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143000"/>
            <a:ext cx="3600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6E6A5-B909-4FB0-A89A-79EC44AD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74326-47AF-4061-82E6-12B2534B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For students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A238D-1D5D-40CF-B315-0D27463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67640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Scratch project files or HTML starter files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Activity worksheets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Practice sheet for Vedic Maths warm-up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Project checklist and exit ticket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F6251-12A9-4CBD-86EF-360D0E6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6004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28F64-23C7-4AA1-A9C3-96826859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43000"/>
            <a:ext cx="3600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F1792-55F6-45C7-A48C-EDDD4CCD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144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For school administration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77B6A-F337-46E8-86CF-3294D106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7640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Attendance sheet and progress tracker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Certificate template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Showcase day outline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Parent communication 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0CBB5-6E77-4319-975B-F449DF42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FA52D-17DA-4834-803D-904256AD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3A0FB-05FE-4D84-AC9A-F1009FA1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Support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1EF66-3EBD-41AA-87D0-47CA236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11049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We provide the content, teacher material, and starter code.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The school teacher facilitates the session in the lab.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short teacher orientation can be given before launch.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This makes the program practical, scalable, and low-friction for the school.</a:t>
            </a:r>
          </a:p>
        </p:txBody>
      </p:sp>
    </p:spTree>
    <p:extLst>
      <p:ext uri="{BB962C8B-B14F-4D97-AF65-F5344CB8AC3E}">
        <p14:creationId xmlns:p14="http://schemas.microsoft.com/office/powerpoint/2010/main" val="1897312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D4EBC5-F94A-4E1B-BB97-35CBBADFD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3A6BC-FDFE-41E7-89AD-1D87A2C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0A834-4782-491A-8675-A778811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7995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Assessment, outcomes, and 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22814-AF75-4468-AFDF-042EFF9D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2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  <p:txBody>
          <a:bodyPr xmlns:a="http://schemas.openxmlformats.org/drawingml/2006/main" anchor="t">
            <a:normAutofit fontScale="907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9F7"/>
                </a:solidFill>
                <a:latin typeface="Aptos"/>
                <a:ea typeface="Aptos"/>
                <a:cs typeface="Aptos"/>
              </a:defRPr>
            </a:pPr>
            <a:r>
              <a:t>The program should be easy for the school to approve, run, and measure.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E32FB-4262-4C23-A9B4-4D95A9DA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B"/>
          </a:solidFill>
          <a:ln xmlns:a="http://schemas.openxmlformats.org/drawingml/2006/main" w="0">
            <a:solidFill>
              <a:srgbClr val="E9F2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t>Mumbai Schools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B097D-0681-4EC0-81F3-D1F1AC83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790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1B0AA-E58B-4926-AB48-58EC78A6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790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D8A"/>
          </a:solidFill>
          <a:ln xmlns:a="http://schemas.openxmlformats.org/drawingml/2006/main" w="0">
            <a:solidFill>
              <a:srgbClr val="1F9D8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5F85D-07AF-440C-B3F2-56C4ACF0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How success is measured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B88A5-8D30-407D-9DDF-7E96B8F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3448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Attendance and participation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Completion of weekly tasks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Student confidence in math and coding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Final project quality and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A9A29-788C-4F09-87B3-119F50A6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43000"/>
            <a:ext cx="3790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E5EDD-A01A-4921-A143-DF83C1A0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43000"/>
            <a:ext cx="3790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238C3-1526-43D9-B461-930E9D20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144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What parents will notice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8221C-A660-4445-8BBB-EF5E749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4480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Children talking about logic and number patterns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Visible projects instead of only worksheets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Improved confidence in solving problems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structured, modern skill-building program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6E97E-D5C0-47A4-845C-A2B5AB6A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43000"/>
            <a:ext cx="3733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F7ABB-FB59-49E2-B0CC-BCED95BE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43000"/>
            <a:ext cx="3733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2E88B-A3C3-4A40-97A1-D71CDE41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1445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What the school gains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FF998-D28C-497C-A1FF-2472AB4A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76400"/>
            <a:ext cx="3390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new enrichment offering for Grades 4–7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stronger STEM and innovation image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program that can run on weekends with existing staff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A showcase event that adds value for parents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BFE4E-1E00-4C86-8DCC-0DEB810C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1391900" cy="1781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ECA99-8F76-40FD-8C4F-52CFEF30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139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B4D1E-51A4-4A84-8859-6C26C38F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t>Recommended launch 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5FAC0-DCDE-4942-AA59-CB1F1017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10490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1. Run a small pilot batch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2. Train the computer teacher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3. Start the 12-week core program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4. Hold a final showcase and collect feedback</a:t>
            </a:r>
          </a:p>
          <a:p xmlns:a="http://schemas.openxmlformats.org/drawingml/2006/main">
            <a:pPr algn="l">
              <a:defRPr sz="1125" b="0" i="0">
                <a:solidFill>
                  <a:srgbClr val="4B5563"/>
                </a:solidFill>
                <a:latin typeface="Aptos"/>
                <a:ea typeface="Aptos"/>
                <a:cs typeface="Aptos"/>
              </a:defRPr>
            </a:pPr>
            <a:r>
              <a:t>• 5. Extend to the 16-week option if the school wants deeper learning</a:t>
            </a:r>
          </a:p>
        </p:txBody>
      </p:sp>
    </p:spTree>
    <p:extLst>
      <p:ext uri="{BB962C8B-B14F-4D97-AF65-F5344CB8AC3E}">
        <p14:creationId xmlns:p14="http://schemas.microsoft.com/office/powerpoint/2010/main" val="293630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2026-04-22T04:11:43.2510000Z</dcterms:created>
  <dcterms:modified xsi:type="dcterms:W3CDTF">2026-04-22T04:11:43.2510000Z</dcterms:modified>
</coreProperties>
</file>