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47-4A3D-8800-F56E5599545A}"/>
              </c:ext>
            </c:extLst>
          </c:dPt>
          <c:dPt>
            <c:idx val="1"/>
            <c:bubble3D val="0"/>
            <c:spPr>
              <a:solidFill>
                <a:srgbClr val="E07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47-4A3D-8800-F56E5599545A}"/>
              </c:ext>
            </c:extLst>
          </c:dPt>
          <c:dPt>
            <c:idx val="2"/>
            <c:bubble3D val="0"/>
            <c:spPr>
              <a:solidFill>
                <a:srgbClr val="0A5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47-4A3D-8800-F56E5599545A}"/>
              </c:ext>
            </c:extLst>
          </c:dPt>
          <c:dPt>
            <c:idx val="3"/>
            <c:bubble3D val="0"/>
            <c:spPr>
              <a:solidFill>
                <a:srgbClr val="2A7F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47-4A3D-8800-F56E5599545A}"/>
              </c:ext>
            </c:extLst>
          </c:dPt>
          <c:cat>
            <c:strRef>
              <c:f>Sheet1!$A$2:$A$5</c:f>
              <c:strCache>
                <c:ptCount val="4"/>
                <c:pt idx="0">
                  <c:v>Vedic Warm-Up</c:v>
                </c:pt>
                <c:pt idx="1">
                  <c:v>Sutra→Code Bridge</c:v>
                </c:pt>
                <c:pt idx="2">
                  <c:v>Build / Code Time</c:v>
                </c:pt>
                <c:pt idx="3">
                  <c:v>Share &amp; Reflect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25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47-4A3D-8800-F56E55995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08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A5A6E">
              <a:alpha val="20000"/>
            </a:srgbClr>
          </a:solidFill>
          <a:ln w="12700">
            <a:solidFill>
              <a:srgbClr val="0A5A6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65760"/>
            <a:ext cx="1828800" cy="1828800"/>
          </a:xfrm>
          <a:prstGeom prst="ellipse">
            <a:avLst/>
          </a:prstGeom>
          <a:solidFill>
            <a:srgbClr val="E07010">
              <a:alpha val="15000"/>
            </a:srgbClr>
          </a:solidFill>
          <a:ln w="12700">
            <a:solidFill>
              <a:srgbClr val="E0701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C8963A">
              <a:alpha val="12000"/>
            </a:srgbClr>
          </a:solidFill>
          <a:ln w="12700">
            <a:solidFill>
              <a:srgbClr val="C8963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2926080" cy="292608"/>
          </a:xfrm>
          <a:prstGeom prst="roundRect">
            <a:avLst>
              <a:gd name="adj" fmla="val 15625"/>
            </a:avLst>
          </a:prstGeom>
          <a:solidFill>
            <a:srgbClr val="E07010">
              <a:alpha val="85000"/>
            </a:srgbClr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E8B84B"/>
                </a:solidFill>
              </a:rPr>
              <a:t>MUMBAI AFTER-SCHOOL PROGRAM 2025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kern="0" spc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T.H.Y.N.K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5029200" cy="36576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Hub for Young Next-gen Knowledge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03580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BBC8"/>
                </a:solidFill>
              </a:rPr>
              <a:t>Ancient Wisdom · Modern Code · Schools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34340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52436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CCDD"/>
                </a:solidFill>
              </a:rPr>
              <a:t>Grades 4–7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434340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52436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CCDD"/>
                </a:solidFill>
              </a:rPr>
              <a:t>16 Weeks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434340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52436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CCDD"/>
                </a:solidFill>
              </a:rPr>
              <a:t>Vedic Maths + Coding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434340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52436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CCDD"/>
                </a:solidFill>
              </a:rPr>
              <a:t>₹0 Extra Hardware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801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name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says it all.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8B84B"/>
                </a:solidFill>
              </a:rPr>
              <a:t>And it spells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E8B84B"/>
                </a:solidFill>
              </a:rPr>
              <a:t>THINK.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0" y="384048"/>
            <a:ext cx="658368" cy="658368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4904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0" y="4023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The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</a:rPr>
              <a:t>A focused, dedicated 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78224" y="1042416"/>
            <a:ext cx="0" cy="237744"/>
          </a:xfrm>
          <a:prstGeom prst="line">
            <a:avLst/>
          </a:prstGeom>
          <a:noFill/>
          <a:ln w="12700">
            <a:solidFill>
              <a:srgbClr val="DDCCBB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3749040" y="1280160"/>
            <a:ext cx="658368" cy="658368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298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Hub for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1609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</a:rPr>
              <a:t>Where ideas connect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78224" y="1938528"/>
            <a:ext cx="0" cy="237744"/>
          </a:xfrm>
          <a:prstGeom prst="line">
            <a:avLst/>
          </a:prstGeom>
          <a:noFill/>
          <a:ln w="12700">
            <a:solidFill>
              <a:srgbClr val="DDCCBB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3749040" y="2176272"/>
            <a:ext cx="658368" cy="658368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Young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505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</a:rPr>
              <a:t>Grades 4 through 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78224" y="2834640"/>
            <a:ext cx="0" cy="237744"/>
          </a:xfrm>
          <a:prstGeom prst="line">
            <a:avLst/>
          </a:prstGeom>
          <a:noFill/>
          <a:ln w="12700">
            <a:solidFill>
              <a:srgbClr val="DDCCBB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3749040" y="3072384"/>
            <a:ext cx="658368" cy="658368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49040" y="3072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Next-gen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</a:rPr>
              <a:t>Future-ready skills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78224" y="3730752"/>
            <a:ext cx="0" cy="237744"/>
          </a:xfrm>
          <a:prstGeom prst="line">
            <a:avLst/>
          </a:prstGeom>
          <a:noFill/>
          <a:ln w="12700">
            <a:solidFill>
              <a:srgbClr val="DDCCBB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3749040" y="3968496"/>
            <a:ext cx="658368" cy="658368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49040" y="39684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72000" y="39867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Knowledge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</a:rPr>
              <a:t>Vedic Maths + Coding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010"/>
                </a:solidFill>
              </a:rPr>
              <a:t>THE BIG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Maths and Coding are the same thing.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7080"/>
                </a:solidFill>
              </a:rPr>
              <a:t>They just speak different languages.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651760" cy="2834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828800"/>
            <a:ext cx="2651760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 Vedic Sutra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4057"/>
                </a:solidFill>
              </a:rPr>
              <a:t>A step-by-step rule applied to any valid input to get a precise result.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51760" cy="2834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828800"/>
            <a:ext cx="2651760" cy="73152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=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Both 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4057"/>
                </a:solidFill>
              </a:rPr>
              <a:t>Algorithms: precise, repeatable, pattern-based rules for solving problems efficiently.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2651760" cy="2834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828800"/>
            <a:ext cx="2651760" cy="73152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An Algorithm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4057"/>
                </a:solidFill>
              </a:rPr>
              <a:t>A step-by-step rule applied to any valid input to get a precise result.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</a:rPr>
              <a:t>"A sutra is a thread — a rule you follow step by step.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</a:rPr>
              <a:t>That is exactly what a computer program is."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C8963A"/>
                </a:solidFill>
              </a:rPr>
              <a:t>WHY THIS · WHY NOW · WHY MUMBAI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reasons this is the right program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school, right now.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416052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00200"/>
            <a:ext cx="54864" cy="1417320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963A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🏫 Syllabi already touch Vedic Maths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258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CBSE &amp; ICSE cover Vedic shortcuts in middle school. T.H.Y.N.K builds on content teachers already know — no reteaching needed.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600200"/>
            <a:ext cx="416052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600200"/>
            <a:ext cx="54864" cy="1417320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963A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📋 NEP 2020 mandates coding from Grade 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2585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T.H.Y.N.K gives schools a structured, ready-to-run programme to fulfil NEP's coding requirement — without hiring specialist teachers.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16052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54864" cy="1417320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73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963A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⚡ Mental speed transfers directly to debugging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Children who master Vedic techniques compute 3–5× faster mentally. That same speed helps them trace code logic and spot bugs faster.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200400"/>
            <a:ext cx="416052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00400"/>
            <a:ext cx="54864" cy="1417320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73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963A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🇮🇳 India's heritage + modern skills = pride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858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Vedic maths predates much of Western mathematics. Teaching it with coding shows students that India invented algorithmic thinking.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010"/>
                </a:solidFill>
              </a:rPr>
              <a:t>THE DIRECT CONNECTION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Vedic Sutra has an exact Coding twin.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</a:rPr>
              <a:t>These are not analogies. The same mental operation is happening in both.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" cy="32004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2011680" cy="32004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Vedic Sutra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79776" y="1417320"/>
            <a:ext cx="1828800" cy="32004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9776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Meaning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1417320"/>
            <a:ext cx="2011680" cy="32004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Coding Concept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56832" y="1417320"/>
            <a:ext cx="2468880" cy="32004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 Practice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755648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755648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7080"/>
                </a:solidFill>
              </a:rPr>
              <a:t>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1755648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755648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963A"/>
                </a:solidFill>
              </a:rPr>
              <a:t>Ekadhikena Purvena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79776" y="1755648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1755648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4057"/>
                </a:solidFill>
              </a:rPr>
              <a:t>By one more than the previous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1755648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755648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7010"/>
                </a:solidFill>
              </a:rPr>
              <a:t>Loops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56832" y="1755648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175564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A5A6E"/>
                </a:solidFill>
              </a:rPr>
              <a:t>repeat block, for loop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322576"/>
            <a:ext cx="36576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322576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7080"/>
                </a:solidFill>
              </a:rPr>
              <a:t>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2322576"/>
            <a:ext cx="201168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322576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963A"/>
                </a:solidFill>
              </a:rPr>
              <a:t>Nikhilam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79776" y="2322576"/>
            <a:ext cx="182880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2322576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4057"/>
                </a:solidFill>
              </a:rPr>
              <a:t>All from 9, last from 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26864" y="2322576"/>
            <a:ext cx="201168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322576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7010"/>
                </a:solidFill>
              </a:rPr>
              <a:t>Variables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56832" y="2322576"/>
            <a:ext cx="246888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2322576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A5A6E"/>
                </a:solidFill>
              </a:rPr>
              <a:t>store intermediate values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889504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2889504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7080"/>
                </a:solidFill>
              </a:rPr>
              <a:t>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" y="2889504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288950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963A"/>
                </a:solidFill>
              </a:rPr>
              <a:t>Urdhva Tiryak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79776" y="2889504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16352" y="2889504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4057"/>
                </a:solidFill>
              </a:rPr>
              <a:t>Vertically &amp; crosswise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26864" y="2889504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88950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7010"/>
                </a:solidFill>
              </a:rPr>
              <a:t>Nested Loops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56832" y="2889504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288950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A5A6E"/>
                </a:solidFill>
              </a:rPr>
              <a:t>process every digit pair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3456432"/>
            <a:ext cx="36576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3456432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7080"/>
                </a:solidFill>
              </a:rPr>
              <a:t>04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" y="3456432"/>
            <a:ext cx="201168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" y="34564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963A"/>
                </a:solidFill>
              </a:rPr>
              <a:t>Gunita Samuchaya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79776" y="3456432"/>
            <a:ext cx="182880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16352" y="345643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4057"/>
                </a:solidFill>
              </a:rPr>
              <a:t>Verify by digital root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26864" y="3456432"/>
            <a:ext cx="201168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34564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7010"/>
                </a:solidFill>
              </a:rPr>
              <a:t>Debugging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56832" y="3456432"/>
            <a:ext cx="2468880" cy="530352"/>
          </a:xfrm>
          <a:prstGeom prst="rect">
            <a:avLst/>
          </a:prstGeom>
          <a:solidFill>
            <a:srgbClr val="F5F0E8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93408" y="345643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A5A6E"/>
                </a:solidFill>
              </a:rPr>
              <a:t>cast out 9s = error check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4023360"/>
            <a:ext cx="36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" y="4023360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7080"/>
                </a:solidFill>
              </a:rPr>
              <a:t>05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" y="4023360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" y="402336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963A"/>
                </a:solidFill>
              </a:rPr>
              <a:t>Anurupyena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79776" y="402336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16352" y="402336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4057"/>
                </a:solidFill>
              </a:rPr>
              <a:t>Proportionality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26864" y="4023360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402336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7010"/>
                </a:solidFill>
              </a:rPr>
              <a:t>Functions + CSS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56832" y="4023360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93408" y="402336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A5A6E"/>
                </a:solidFill>
              </a:rPr>
              <a:t>write once, scale infinitely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010"/>
                </a:solidFill>
              </a:rPr>
              <a:t>THE PROGRAM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tracks. One philosophy.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657600"/>
          </a:xfrm>
          <a:prstGeom prst="rect">
            <a:avLst/>
          </a:prstGeom>
          <a:solidFill>
            <a:srgbClr val="FFF5EA"/>
          </a:solidFill>
          <a:ln w="19050">
            <a:solidFill>
              <a:srgbClr val="F0C8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822960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DDAA"/>
                </a:solidFill>
              </a:rPr>
              <a:t>TRACK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Maths + Scratch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👧 For Grades 4 &amp; 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505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🐱 Scratch block coding (free, browser-based)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📐 7 Vedic Sutras mapped to Scratch blocks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46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🎮 Mini-project: Vedic Maths Quiz Game (Week 8)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🏆 Final: Original student-designed Vedic game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187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📜 Certificate + Demo Day presentation (Week 16)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023360" cy="3657600"/>
          </a:xfrm>
          <a:prstGeom prst="rect">
            <a:avLst/>
          </a:prstGeom>
          <a:solidFill>
            <a:srgbClr val="EFF8FC"/>
          </a:solidFill>
          <a:ln w="19050">
            <a:solidFill>
              <a:srgbClr val="90C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43000"/>
            <a:ext cx="4023360" cy="822960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ADDEE"/>
                </a:solidFill>
              </a:rPr>
              <a:t>TRACK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92040" y="1389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Maths + HTML/CSS/JS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92040" y="2084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👦 For Grades 6 &amp; 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🌐 Real web code — HTML, CSS, JavaScript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📐 8 Vedic Sutras mapped to web code concepts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🧮 Mini-project: Interactive Vedic Calculator (Week 8)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3767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🏆 Final: 4-page Vedic teaching website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4187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📜 Certificate + live website demo (Week 16)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963A"/>
                </a:solidFill>
              </a:rPr>
              <a:t>THE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Weeks · 4 Phases · 2 Tracks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8229600" cy="45720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29968"/>
            <a:ext cx="420624" cy="420624"/>
          </a:xfrm>
          <a:prstGeom prst="ellipse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C8963A"/>
                </a:solidFill>
              </a:rPr>
              <a:t>Wks 1–4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Foundations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196596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2A5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151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010"/>
                </a:solidFill>
              </a:rPr>
              <a:t>🐱 Gr 4–5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Sutras + Motion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&amp; Variables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822192"/>
            <a:ext cx="1965960" cy="1024128"/>
          </a:xfrm>
          <a:prstGeom prst="rect">
            <a:avLst/>
          </a:prstGeom>
          <a:solidFill>
            <a:srgbClr val="0C1E2E"/>
          </a:solidFill>
          <a:ln w="12700">
            <a:solidFill>
              <a:srgbClr val="1A4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58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A94"/>
                </a:solidFill>
              </a:rPr>
              <a:t>🌐 Gr 6–7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4078224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HTML structure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&amp; CSS basics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82112" y="2029968"/>
            <a:ext cx="420624" cy="420624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82112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2032" y="14813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E07010"/>
                </a:solidFill>
              </a:rPr>
              <a:t>Wks 5–8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42032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Building Tools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42032" y="2578608"/>
            <a:ext cx="196596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2A5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26151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010"/>
                </a:solidFill>
              </a:rPr>
              <a:t>🐱 Gr 4–5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87752" y="28346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Calculators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&amp; Quiz Game 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42032" y="3822192"/>
            <a:ext cx="1965960" cy="1024128"/>
          </a:xfrm>
          <a:prstGeom prst="rect">
            <a:avLst/>
          </a:prstGeom>
          <a:solidFill>
            <a:srgbClr val="0C1E2E"/>
          </a:solidFill>
          <a:ln w="12700">
            <a:solidFill>
              <a:srgbClr val="1A40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3858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A94"/>
                </a:solidFill>
              </a:rPr>
              <a:t>🌐 Gr 6–7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87752" y="4078224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JS Variables,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Operators + Calculator 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66944" y="2029968"/>
            <a:ext cx="420624" cy="420624"/>
          </a:xfrm>
          <a:prstGeom prst="ellipse">
            <a:avLst/>
          </a:prstGeom>
          <a:solidFill>
            <a:srgbClr val="0E7A94"/>
          </a:solidFill>
          <a:ln w="12700">
            <a:solidFill>
              <a:srgbClr val="0E7A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6694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26864" y="14813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E7A94"/>
                </a:solidFill>
              </a:rPr>
              <a:t>Wks 9–12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26864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Deeper Thinking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26864" y="2578608"/>
            <a:ext cx="196596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2A5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26151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010"/>
                </a:solidFill>
              </a:rPr>
              <a:t>🐱 Gr 4–5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72584" y="28346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Conditionals,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Loops &amp; Debugging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26864" y="3822192"/>
            <a:ext cx="1965960" cy="1024128"/>
          </a:xfrm>
          <a:prstGeom prst="rect">
            <a:avLst/>
          </a:prstGeom>
          <a:solidFill>
            <a:srgbClr val="0C1E2E"/>
          </a:solidFill>
          <a:ln w="12700">
            <a:solidFill>
              <a:srgbClr val="1A40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3858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A94"/>
                </a:solidFill>
              </a:rPr>
              <a:t>🌐 Gr 6–7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72584" y="4078224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Functions,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Loops &amp; Animation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51776" y="2029968"/>
            <a:ext cx="420624" cy="420624"/>
          </a:xfrm>
          <a:prstGeom prst="ellipse">
            <a:avLst/>
          </a:prstGeom>
          <a:solidFill>
            <a:srgbClr val="2A7F5A"/>
          </a:solidFill>
          <a:ln w="12700">
            <a:solidFill>
              <a:srgbClr val="2A7F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5177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11696" y="14813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A7F5A"/>
                </a:solidFill>
              </a:rPr>
              <a:t>Wks 13–16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11696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Final Project 🎉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711696" y="2578608"/>
            <a:ext cx="196596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2A5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57416" y="26151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010"/>
                </a:solidFill>
              </a:rPr>
              <a:t>🐱 Gr 4–5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57416" y="28346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Design + Build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DDCC"/>
                </a:solidFill>
              </a:rPr>
              <a:t>Vedic Game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11696" y="3822192"/>
            <a:ext cx="1965960" cy="1024128"/>
          </a:xfrm>
          <a:prstGeom prst="rect">
            <a:avLst/>
          </a:prstGeom>
          <a:solidFill>
            <a:srgbClr val="0C1E2E"/>
          </a:solidFill>
          <a:ln w="12700">
            <a:solidFill>
              <a:srgbClr val="1A40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58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A94"/>
                </a:solidFill>
              </a:rPr>
              <a:t>🌐 Gr 6–7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57416" y="4078224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Build &amp; Present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CCDD"/>
                </a:solidFill>
              </a:rPr>
              <a:t>Vedic Website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010"/>
                </a:solidFill>
              </a:rPr>
              <a:t>EVERY SESSION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45-minute rhythm, every week.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</a:rPr>
              <a:t>By Week 3, teachers and students both know exactly what happens next.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17320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463040" y="2651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463040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</a:rPr>
              <a:t>min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31920" y="1408176"/>
            <a:ext cx="512064" cy="512064"/>
          </a:xfrm>
          <a:prstGeom prst="ellipse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0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0" y="1353312"/>
            <a:ext cx="594360" cy="256032"/>
          </a:xfrm>
          <a:prstGeom prst="rect">
            <a:avLst/>
          </a:prstGeom>
          <a:solidFill>
            <a:srgbClr val="C8963A">
              <a:alpha val="85000"/>
            </a:srgbClr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353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 min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25780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Vedic Warm-Up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7800" y="1627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</a:rPr>
              <a:t>5 mental maths problems on today's sutra. No calculators. Builds speed and confidence before screens.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31920" y="2359152"/>
            <a:ext cx="512064" cy="512064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0" y="2304288"/>
            <a:ext cx="594360" cy="256032"/>
          </a:xfrm>
          <a:prstGeom prst="rect">
            <a:avLst/>
          </a:prstGeom>
          <a:solidFill>
            <a:srgbClr val="E07010">
              <a:alpha val="85000"/>
            </a:srgbClr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23042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 min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5780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Sutra → Code Bridge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57800" y="25786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</a:rPr>
              <a:t>Teacher draws the explicit link. Students write it on their worksheet. Connection made visible.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31920" y="3310128"/>
            <a:ext cx="512064" cy="512064"/>
          </a:xfrm>
          <a:prstGeom prst="ellipse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0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0" y="3255264"/>
            <a:ext cx="594360" cy="256032"/>
          </a:xfrm>
          <a:prstGeom prst="rect">
            <a:avLst/>
          </a:prstGeom>
          <a:solidFill>
            <a:srgbClr val="0A5A6E">
              <a:alpha val="85000"/>
            </a:srgbClr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32552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25 min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5780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Build / Code Time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57800" y="35295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</a:rPr>
              <a:t>Hands on keyboard. Starter file provided. Teacher asks questions, never gives answers.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931920" y="4261104"/>
            <a:ext cx="512064" cy="512064"/>
          </a:xfrm>
          <a:prstGeom prst="ellipse">
            <a:avLst/>
          </a:prstGeom>
          <a:solidFill>
            <a:srgbClr val="2A7F5A"/>
          </a:solidFill>
          <a:ln w="12700">
            <a:solidFill>
              <a:srgbClr val="2A7F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0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🌟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572000" y="4206240"/>
            <a:ext cx="594360" cy="256032"/>
          </a:xfrm>
          <a:prstGeom prst="rect">
            <a:avLst/>
          </a:prstGeom>
          <a:solidFill>
            <a:srgbClr val="2A7F5A">
              <a:alpha val="85000"/>
            </a:srgbClr>
          </a:solidFill>
          <a:ln w="12700">
            <a:solidFill>
              <a:srgbClr val="2A7F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0" y="42062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 min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5780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Share &amp; Reflect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57800" y="4480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</a:rPr>
              <a:t>Two students show their screen. Everyone writes: 'Today I connected __ to __.'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963A"/>
                </a:solidFill>
              </a:rPr>
              <a:t>SEE IT IN 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 Sutra → JavaScript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1A2B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34747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📐  VEDIC METHOD — Nikhilam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63A"/>
                </a:solidFill>
              </a:rPr>
              <a:t>Problem: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48840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97 × 96 = 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63A"/>
                </a:solidFill>
              </a:rPr>
              <a:t>Step 1 — Base: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63A"/>
                </a:solidFill>
              </a:rPr>
              <a:t>Step 2 — Deficit of 97: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48840" y="2542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100 − 97 =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63A"/>
                </a:solidFill>
              </a:rPr>
              <a:t>Step 3 — Deficit of 96: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2980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100 − 96 = 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419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63A"/>
                </a:solidFill>
              </a:rPr>
              <a:t>Step 4 — Left part: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48840" y="3419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97 − 4 = 93 (or 96 − 3)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63A"/>
                </a:solidFill>
              </a:rPr>
              <a:t>Step 5 — Right part: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3858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3 × 4 = 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63A"/>
                </a:solidFill>
              </a:rPr>
              <a:t>Answer: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9312 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solidFill>
            <a:srgbClr val="0D1E2E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188720"/>
            <a:ext cx="3931920" cy="347472"/>
          </a:xfrm>
          <a:prstGeom prst="rect">
            <a:avLst/>
          </a:prstGeom>
          <a:solidFill>
            <a:srgbClr val="0A5A6E"/>
          </a:solidFill>
          <a:ln w="12700">
            <a:solidFill>
              <a:srgbClr val="0A5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💻  SAME THING — JavaScript Code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1627632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97, b = 96;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base = 100;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defA = base - a;  //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defB = base - b;  // 4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  = a - defB; // 93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right = defA * defB; // 12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answer = left * base + right;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2E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answer = 9312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15968" y="2651760"/>
            <a:ext cx="512064" cy="512064"/>
          </a:xfrm>
          <a:prstGeom prst="ellipse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=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BBC8"/>
                </a:solidFill>
              </a:rPr>
              <a:t>The variable names in the code map 1:1 to the Vedic steps. Same operation, different language.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010"/>
                </a:solidFill>
              </a:rPr>
              <a:t>THE TEACHER KIT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teacher needs is already in the folder.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</a:rPr>
              <a:t>No research. No extra preparation. Open and teach.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2743200" cy="54864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91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207568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32 Teacher Guides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39572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080"/>
                </a:solidFill>
              </a:rPr>
              <a:t>One per session. Lesson plan, Vedic background, common mistakes, extension tasks.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81328"/>
            <a:ext cx="2743200" cy="54864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591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07568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32 Student Worksheets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39572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080"/>
                </a:solidFill>
              </a:rPr>
              <a:t>Vedic warm-up, guided coding exercise, reflection prompt, take-home activity.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481328"/>
            <a:ext cx="2743200" cy="54864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591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91072" y="207568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Scratch Starter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1072" y="239572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080"/>
                </a:solidFill>
              </a:rPr>
              <a:t>Pre-built .sb3 projects with sprites and partial code ready for each Grade 4–5 session.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1868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18688"/>
            <a:ext cx="2743200" cy="54864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284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" y="381304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HTML/CSS/JS Templates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13308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080"/>
                </a:solidFill>
              </a:rPr>
              <a:t>Starter web files for every Grade 6–7 session — students modify, not start from blank.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73552" y="321868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3218688"/>
            <a:ext cx="2743200" cy="54864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3284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83280" y="381304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Assessment Kit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413308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080"/>
                </a:solidFill>
              </a:rPr>
              <a:t>Weekly checklists, mini-project rubric, final rubric, progress tracker, certificate template.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81344" y="321868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3218688"/>
            <a:ext cx="2743200" cy="54864"/>
          </a:xfrm>
          <a:prstGeom prst="rect">
            <a:avLst/>
          </a:prstGeom>
          <a:solidFill>
            <a:srgbClr val="E07010"/>
          </a:solidFill>
          <a:ln w="12700">
            <a:solidFill>
              <a:srgbClr val="E07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33284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91072" y="381304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1-Day Teacher Training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1072" y="413308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080"/>
                </a:solidFill>
              </a:rPr>
              <a:t>Delivered at your school. All 7 sutras + 3 full lesson walkthroughs + lab setup.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963A"/>
                </a:solidFill>
              </a:rPr>
              <a:t>REQUIREMENTS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Simple. You already have everything.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6052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35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99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Computer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09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963A"/>
                </a:solidFill>
              </a:rPr>
              <a:t>Existing Windows/Mac lab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80160" y="19842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1 computer per 2 students · Chrome browser · No new purchases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6052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435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👩‍🏫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399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Teacher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709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963A"/>
                </a:solidFill>
              </a:rPr>
              <a:t>Your existing computer teacher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0" y="19842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No Vedic Maths background needed · We train them in one day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6052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218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31821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45 Min/Week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963A"/>
                </a:solidFill>
              </a:rPr>
              <a:t>Once per week, 16 weeks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80160" y="37673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Saturdays work perfectly · Can slot into free periods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6052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218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69280" y="31821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15–30 Students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963A"/>
                </a:solidFill>
              </a:rPr>
              <a:t>One batch per track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7673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8"/>
                </a:solidFill>
              </a:rPr>
              <a:t>Mixed-ability welcome · Multiple batches possible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310896"/>
          </a:xfrm>
          <a:prstGeom prst="rect">
            <a:avLst/>
          </a:prstGeom>
          <a:solidFill>
            <a:srgbClr val="2A7F5A">
              <a:alpha val="85000"/>
            </a:srgbClr>
          </a:solidFill>
          <a:ln w="12700">
            <a:solidFill>
              <a:srgbClr val="2A7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091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EEBB"/>
                </a:solidFill>
              </a:rPr>
              <a:t>✓  No new hardware.     ✓  No new software licences.     ✓  No specialist hiring.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7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4114800" cy="4114800"/>
          </a:xfrm>
          <a:prstGeom prst="ellipse">
            <a:avLst/>
          </a:prstGeom>
          <a:solidFill>
            <a:srgbClr val="C8963A">
              <a:alpha val="30000"/>
            </a:srgbClr>
          </a:solidFill>
          <a:ln w="12700">
            <a:solidFill>
              <a:srgbClr val="C8963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0D1B2A">
              <a:alpha val="20000"/>
            </a:srgbClr>
          </a:solidFill>
          <a:ln w="12700">
            <a:solidFill>
              <a:srgbClr val="0D1B2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LET'S MAKE IT HAPPEN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bring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T.H.Y.N.K to your school?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0D8"/>
                </a:solidFill>
              </a:rPr>
              <a:t>We are currently onboarding Mumbai pilot schools for the 2025 cohort.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0D8"/>
                </a:solidFill>
              </a:rPr>
              <a:t>The full kit, training, and support are provided — your school just opens the door.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64008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33375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C8963A"/>
                </a:solidFill>
              </a:rPr>
              <a:t>NEXT STEP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 30-minute meeting with your academic coordinator and computer teacher.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We walk through one complete sample session — live, end to end.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50" dirty="0">
                <a:solidFill>
                  <a:srgbClr val="FFDEBB"/>
                </a:solidFill>
              </a:rPr>
              <a:t>T.H.Y.N.K  ·  The Hub for Young Next-gen Knowledge  </a:t>
            </a:r>
            <a:r>
              <a:rPr lang="en-US" sz="850" kern="0" spc="50">
                <a:solidFill>
                  <a:srgbClr val="FFDEBB"/>
                </a:solidFill>
              </a:rPr>
              <a:t>·   </a:t>
            </a:r>
            <a:r>
              <a:rPr lang="en-US" sz="850" kern="0" spc="50" dirty="0">
                <a:solidFill>
                  <a:srgbClr val="FFDEBB"/>
                </a:solidFill>
              </a:rPr>
              <a:t>hello@thynk.in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1290</Words>
  <Application>Microsoft Office PowerPoint</Application>
  <PresentationFormat>On-screen Show (16:9)</PresentationFormat>
  <Paragraphs>258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T.H.Y.N.K — School Program Proposal</dc:title>
  <dc:subject>PptxGenJS Presentation</dc:subject>
  <dc:creator>T.H.Y.N.K</dc:creator>
  <cp:lastModifiedBy>pranav sheth</cp:lastModifiedBy>
  <cp:revision>3</cp:revision>
  <dcterms:created xsi:type="dcterms:W3CDTF">2026-04-28T04:02:41Z</dcterms:created>
  <dcterms:modified xsi:type="dcterms:W3CDTF">2026-04-28T04:06:49Z</dcterms:modified>
</cp:coreProperties>
</file>